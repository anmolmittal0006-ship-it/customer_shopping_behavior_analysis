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consolata"/>
      <p:regular r:id="rId201314"/>
    </p:embeddedFont>
    <p:embeddedFont>
      <p:font typeface="Inconsolata Bold"/>
      <p:regular r:id="rId201315"/>
    </p:embeddedFont>
    <p:embeddedFont>
      <p:font typeface="Montserrat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7.png"/><Relationship Id="rId10" Type="http://schemas.openxmlformats.org/officeDocument/2006/relationships/image" Target="../media/image-10-8.svg"/><Relationship Id="rId11" Type="http://schemas.openxmlformats.org/officeDocument/2006/relationships/image" Target="../media/image-10-11.jpe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39414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Customer Shopping Behavior Analysis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85891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3,900 purchases · 18 columns · goal: uncover spending patterns, segments, subscriptions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839714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Dataset Snapshot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5233360" y="2713831"/>
            <a:ext cx="1972915" cy="2304355"/>
          </a:xfrm>
          <a:prstGeom prst="roundRect">
            <a:avLst>
              <a:gd name="adj" fmla="val 386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24130" dir="2700000">
              <a:srgbClr val="151617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428717" y="2909193"/>
            <a:ext cx="158220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Rows / Columns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5428717" y="3613150"/>
            <a:ext cx="158220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3,900 rows · 18 columns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7395283" y="2713831"/>
            <a:ext cx="1972915" cy="2304355"/>
          </a:xfrm>
          <a:prstGeom prst="roundRect">
            <a:avLst>
              <a:gd name="adj" fmla="val 386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24130" dir="2700000">
              <a:srgbClr val="151617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590640" y="2909193"/>
            <a:ext cx="158220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Key Features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7590640" y="3613150"/>
            <a:ext cx="1582202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Demographics, Purchase details, Behavior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9557205" y="2713831"/>
            <a:ext cx="1972915" cy="2304355"/>
          </a:xfrm>
          <a:prstGeom prst="roundRect">
            <a:avLst>
              <a:gd name="adj" fmla="val 386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24130" dir="2700000">
              <a:srgbClr val="151617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752562" y="2909193"/>
            <a:ext cx="158220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Missing Data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9752562" y="3613150"/>
            <a:ext cx="158220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37 missing values in Review Rating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7985"/>
            <a:ext cx="10868745" cy="424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Python: EDA &amp; Preparation</a:t>
            </a:r>
            <a:endParaRPr lang="en-US" sz="2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221607"/>
            <a:ext cx="5268681" cy="29855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67889" y="1228725"/>
            <a:ext cx="271654" cy="169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6267889" y="1440458"/>
            <a:ext cx="5268681" cy="1905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6" name="Text 3"/>
          <p:cNvSpPr/>
          <p:nvPr/>
        </p:nvSpPr>
        <p:spPr>
          <a:xfrm>
            <a:off x="6267889" y="1546423"/>
            <a:ext cx="5268681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Load &amp; Explore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267889" y="1856383"/>
            <a:ext cx="5268681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pandas, df.info(), .describe()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267889" y="2242542"/>
            <a:ext cx="271654" cy="169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67889" y="2454275"/>
            <a:ext cx="5268681" cy="1905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0" name="Text 7"/>
          <p:cNvSpPr/>
          <p:nvPr/>
        </p:nvSpPr>
        <p:spPr>
          <a:xfrm>
            <a:off x="6267889" y="2560241"/>
            <a:ext cx="5268681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Missing values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267889" y="2870200"/>
            <a:ext cx="5268681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Imputed Review Rating by category median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267889" y="3256359"/>
            <a:ext cx="271654" cy="169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267889" y="3468092"/>
            <a:ext cx="5268681" cy="1905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4" name="Text 11"/>
          <p:cNvSpPr/>
          <p:nvPr/>
        </p:nvSpPr>
        <p:spPr>
          <a:xfrm>
            <a:off x="6267889" y="3574058"/>
            <a:ext cx="5268681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Standardize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267889" y="3884017"/>
            <a:ext cx="5268681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Renamed columns to snake_case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267889" y="4270177"/>
            <a:ext cx="271654" cy="169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267889" y="4481909"/>
            <a:ext cx="5268681" cy="1905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8" name="Text 15"/>
          <p:cNvSpPr/>
          <p:nvPr/>
        </p:nvSpPr>
        <p:spPr>
          <a:xfrm>
            <a:off x="6267889" y="4587875"/>
            <a:ext cx="5268681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Feature Eng.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267889" y="4897834"/>
            <a:ext cx="5268681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age_group, purchase_frequency_days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267889" y="5283994"/>
            <a:ext cx="271654" cy="169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05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267889" y="5495727"/>
            <a:ext cx="5268681" cy="1905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22" name="Text 19"/>
          <p:cNvSpPr/>
          <p:nvPr/>
        </p:nvSpPr>
        <p:spPr>
          <a:xfrm>
            <a:off x="6267889" y="5601692"/>
            <a:ext cx="5268681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Clean-up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267889" y="5911652"/>
            <a:ext cx="5268681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Dropped promo_code_used (redundant)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2331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Database Integration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10060"/>
            <a:ext cx="6903269" cy="39118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32251" y="2691805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PostgreSQL Load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032251" y="3176091"/>
            <a:ext cx="350421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Cleaned DataFrame loaded for SQL analysis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032251" y="3969941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Why SQL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032251" y="4454227"/>
            <a:ext cx="350421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Structured queries for business questions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Revenue &amp; Demographics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50541"/>
            <a:ext cx="5203794" cy="10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Revenue by gender: Male &gt; Female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Avg purchase: $59.76 · Avg rating: 3.75 · Total customers: 3,900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Segments &amp; Loyalty</a:t>
            </a:r>
            <a:endParaRPr lang="en-US" sz="1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21058" y="3037582"/>
            <a:ext cx="243576" cy="24358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527438" y="3037582"/>
            <a:ext cx="500913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Loyal</a:t>
            </a:r>
            <a:endParaRPr lang="en-US" sz="950" dirty="0"/>
          </a:p>
        </p:txBody>
      </p:sp>
      <p:sp>
        <p:nvSpPr>
          <p:cNvPr id="6" name="Text 2"/>
          <p:cNvSpPr/>
          <p:nvPr/>
        </p:nvSpPr>
        <p:spPr>
          <a:xfrm>
            <a:off x="6527438" y="3240088"/>
            <a:ext cx="5009132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3,116 customers — priority for retention</a:t>
            </a:r>
            <a:endParaRPr lang="en-US" sz="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21058" y="3458666"/>
            <a:ext cx="243576" cy="24358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527438" y="3458666"/>
            <a:ext cx="500913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Returning</a:t>
            </a:r>
            <a:endParaRPr lang="en-US" sz="950" dirty="0"/>
          </a:p>
        </p:txBody>
      </p:sp>
      <p:sp>
        <p:nvSpPr>
          <p:cNvPr id="9" name="Text 4"/>
          <p:cNvSpPr/>
          <p:nvPr/>
        </p:nvSpPr>
        <p:spPr>
          <a:xfrm>
            <a:off x="6527438" y="3661172"/>
            <a:ext cx="5009132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701 customers — convert to loyal</a:t>
            </a:r>
            <a:endParaRPr lang="en-US" sz="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21058" y="3879751"/>
            <a:ext cx="243576" cy="24358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527438" y="3879751"/>
            <a:ext cx="500913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New</a:t>
            </a:r>
            <a:endParaRPr lang="en-US" sz="950" dirty="0"/>
          </a:p>
        </p:txBody>
      </p:sp>
      <p:sp>
        <p:nvSpPr>
          <p:cNvPr id="12" name="Text 6"/>
          <p:cNvSpPr/>
          <p:nvPr/>
        </p:nvSpPr>
        <p:spPr>
          <a:xfrm>
            <a:off x="6527438" y="4082256"/>
            <a:ext cx="5009132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83 customers — onboarding focus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3234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Top Products &amp; Discounts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3019028"/>
            <a:ext cx="471575" cy="5894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69284" y="3019028"/>
            <a:ext cx="14357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Hat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369284" y="3503315"/>
            <a:ext cx="143575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Top-rated (3.80) · Discount rate 50%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276" y="3019028"/>
            <a:ext cx="471575" cy="5894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749085" y="3019028"/>
            <a:ext cx="14357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Sneakers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3749085" y="3503315"/>
            <a:ext cx="143575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High discount rate 49.66%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1078" y="3019028"/>
            <a:ext cx="471575" cy="58945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128887" y="3019028"/>
            <a:ext cx="143575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Sweater / Coat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128887" y="3798590"/>
            <a:ext cx="143575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Discount rates ~48–49%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8032251" y="2695476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Top by Rating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8032251" y="3179763"/>
            <a:ext cx="350421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Gloves 3.86 · Sandals 3.84 · Boots 3.82 · Hat 3.80 · Skirt 3.78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8032251" y="3973612"/>
            <a:ext cx="350421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High-spending discount users</a:t>
            </a:r>
            <a:endParaRPr lang="en-US" sz="1850" dirty="0"/>
          </a:p>
        </p:txBody>
      </p:sp>
      <p:sp>
        <p:nvSpPr>
          <p:cNvPr id="15" name="Text 10"/>
          <p:cNvSpPr/>
          <p:nvPr/>
        </p:nvSpPr>
        <p:spPr>
          <a:xfrm>
            <a:off x="8032251" y="4753173"/>
            <a:ext cx="411380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839 rows identified (examples shown)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Age Groups &amp; Revenue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50541"/>
            <a:ext cx="5203794" cy="10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High-revenue groups: Young Adult &amp; Middle-aged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Purchase counts by age: Young Adult 1,028 · Middle-aged 986 · Adult 942 · Senior 944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6755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Shipping &amp; Subscription Insights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954709"/>
            <a:ext cx="94454" cy="94456"/>
          </a:xfrm>
          <a:prstGeom prst="ellipse">
            <a:avLst/>
          </a:prstGeom>
          <a:solidFill>
            <a:srgbClr val="151617"/>
          </a:solidFill>
          <a:ln/>
        </p:spPr>
      </p:sp>
      <p:sp>
        <p:nvSpPr>
          <p:cNvPr id="4" name="Text 2"/>
          <p:cNvSpPr/>
          <p:nvPr/>
        </p:nvSpPr>
        <p:spPr>
          <a:xfrm>
            <a:off x="944936" y="1854299"/>
            <a:ext cx="32207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Shipping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944936" y="2338586"/>
            <a:ext cx="322075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Express avg $60.48 · Standard avg $58.46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3421856"/>
            <a:ext cx="94454" cy="94456"/>
          </a:xfrm>
          <a:prstGeom prst="ellipse">
            <a:avLst/>
          </a:prstGeom>
          <a:solidFill>
            <a:srgbClr val="151617"/>
          </a:solidFill>
          <a:ln/>
        </p:spPr>
      </p:sp>
      <p:sp>
        <p:nvSpPr>
          <p:cNvPr id="7" name="Text 5"/>
          <p:cNvSpPr/>
          <p:nvPr/>
        </p:nvSpPr>
        <p:spPr>
          <a:xfrm>
            <a:off x="944936" y="3321447"/>
            <a:ext cx="32207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Subscriptions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944936" y="3805734"/>
            <a:ext cx="322075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Yes: 1,053 customers · No: 2,847 customers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4889004"/>
            <a:ext cx="94454" cy="94456"/>
          </a:xfrm>
          <a:prstGeom prst="ellipse">
            <a:avLst/>
          </a:prstGeom>
          <a:solidFill>
            <a:srgbClr val="151617"/>
          </a:solidFill>
          <a:ln/>
        </p:spPr>
      </p:sp>
      <p:sp>
        <p:nvSpPr>
          <p:cNvPr id="10" name="Text 8"/>
          <p:cNvSpPr/>
          <p:nvPr/>
        </p:nvSpPr>
        <p:spPr>
          <a:xfrm>
            <a:off x="944936" y="4788595"/>
            <a:ext cx="32207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Subscriber Spend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944936" y="5272881"/>
            <a:ext cx="322075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Avg spend: $59.49 (subscribers) vs $59.87 (non-subs)</a:t>
            </a:r>
            <a:endParaRPr lang="en-US" sz="14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3201" y="1910060"/>
            <a:ext cx="6903269" cy="39118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6915"/>
            <a:ext cx="10868745" cy="433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Recommendations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258193"/>
            <a:ext cx="3583989" cy="8270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95526" y="1416050"/>
            <a:ext cx="3192085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895526" y="1734840"/>
            <a:ext cx="3192085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Promote exclusive subscriber benefits</a:t>
            </a:r>
            <a:endParaRPr lang="en-US" sz="10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187178"/>
            <a:ext cx="3583989" cy="8270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95526" y="2345035"/>
            <a:ext cx="3192085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Loyalty Programs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895526" y="2663825"/>
            <a:ext cx="3192085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Reward repeat buyers to grow 'Loyal' segment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116163"/>
            <a:ext cx="3583989" cy="8270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95526" y="3274020"/>
            <a:ext cx="3192085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Discount Policy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895526" y="3592810"/>
            <a:ext cx="3192085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Balance promotions with margin control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045148"/>
            <a:ext cx="3583989" cy="101967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5526" y="4203005"/>
            <a:ext cx="3192085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Product Positioning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895526" y="4521795"/>
            <a:ext cx="3192085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Highlight top-rated &amp; best-sellers in campaigns</a:t>
            </a:r>
            <a:endParaRPr lang="en-US" sz="10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5166717"/>
            <a:ext cx="3583989" cy="101967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95526" y="5324574"/>
            <a:ext cx="3192085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895526" y="5643364"/>
            <a:ext cx="3192085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Focus on high-revenue age groups &amp; express-shipping users</a:t>
            </a:r>
            <a:endParaRPr lang="en-US" sz="10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90340" y="1754188"/>
            <a:ext cx="6946131" cy="393620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2026-09-10T22:54:12Z</dcterms:created>
  <dcterms:modified xsi:type="dcterms:W3CDTF">2026-09-10T22:54:12Z</dcterms:modified>
</cp:coreProperties>
</file>